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A60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0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01168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rial"/>
              </a:defRPr>
            </a:pPr>
            <a:r>
              <a:t>SISTEMA DE VOTANTES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Campaña Territorial</a:t>
            </a:r>
            <a:br/>
            <a:r>
              <a:t>Sonora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828800"/>
            <a:ext cx="7132320" cy="3206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A60321"/>
                </a:solidFill>
                <a:latin typeface="Georgia"/>
              </a:defRPr>
            </a:pPr>
            <a:r>
              <a:rPr dirty="0"/>
              <a:t>Manual de </a:t>
            </a:r>
            <a:r>
              <a:rPr dirty="0" err="1"/>
              <a:t>Capacitación</a:t>
            </a:r>
            <a:r>
              <a:rPr dirty="0"/>
              <a:t> para </a:t>
            </a:r>
            <a:r>
              <a:rPr dirty="0" err="1"/>
              <a:t>Brigadistas</a:t>
            </a:r>
            <a:endParaRPr dirty="0"/>
          </a:p>
          <a:p>
            <a:pPr>
              <a:spcBef>
                <a:spcPts val="1400"/>
              </a:spcBef>
              <a:defRPr sz="2000">
                <a:solidFill>
                  <a:srgbClr val="282828"/>
                </a:solidFill>
                <a:latin typeface="Arial"/>
              </a:defRPr>
            </a:pPr>
            <a:r>
              <a:rPr dirty="0"/>
              <a:t>Sistema de Registro y </a:t>
            </a:r>
            <a:r>
              <a:rPr dirty="0" err="1"/>
              <a:t>Vinculación</a:t>
            </a:r>
            <a:r>
              <a:rPr dirty="0"/>
              <a:t> Territorial</a:t>
            </a:r>
          </a:p>
          <a:p>
            <a:pPr>
              <a:spcBef>
                <a:spcPts val="2000"/>
              </a:spcBef>
              <a:defRPr sz="1600" b="1" i="1">
                <a:solidFill>
                  <a:srgbClr val="D4AF37"/>
                </a:solidFill>
                <a:latin typeface="Georgia"/>
              </a:defRPr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12191695" cy="91440"/>
          </a:xfrm>
          <a:prstGeom prst="rect">
            <a:avLst/>
          </a:prstGeom>
          <a:solidFill>
            <a:srgbClr val="A60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A60321"/>
                </a:solidFill>
                <a:latin typeface="Georgia"/>
              </a:defRPr>
            </a:pPr>
            <a:r>
              <a:t>El Rol del Brigadista en Territorio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600">
                <a:solidFill>
                  <a:srgbClr val="282828"/>
                </a:solidFill>
                <a:latin typeface="Arial"/>
              </a:defRPr>
            </a:pPr>
            <a:r>
              <a:t>• Facilitar el registro organizado de ciudadanos y enlaces territoriales directos.</a:t>
            </a:r>
          </a:p>
          <a:p>
            <a:pPr>
              <a:spcBef>
                <a:spcPts val="1400"/>
              </a:spcBef>
              <a:defRPr sz="1600">
                <a:solidFill>
                  <a:srgbClr val="282828"/>
                </a:solidFill>
                <a:latin typeface="Arial"/>
              </a:defRPr>
            </a:pPr>
            <a:r>
              <a:t>• Capturar datos demográficos reales de la zona de brigadeo para habilitar el cruce estadístico.</a:t>
            </a:r>
          </a:p>
          <a:p>
            <a:pPr>
              <a:spcBef>
                <a:spcPts val="1400"/>
              </a:spcBef>
              <a:defRPr sz="1600">
                <a:solidFill>
                  <a:srgbClr val="282828"/>
                </a:solidFill>
                <a:latin typeface="Arial"/>
              </a:defRPr>
            </a:pPr>
            <a:r>
              <a:t>• Identificar y canalizar de forma inmediata peticiones de apoyo social de la ciudadanía.</a:t>
            </a:r>
          </a:p>
          <a:p>
            <a:pPr>
              <a:spcBef>
                <a:spcPts val="1400"/>
              </a:spcBef>
              <a:defRPr sz="1600">
                <a:solidFill>
                  <a:srgbClr val="282828"/>
                </a:solidFill>
                <a:latin typeface="Arial"/>
              </a:defRPr>
            </a:pPr>
            <a:r>
              <a:t>• Promover la participación ciudadana y consolidar la estructura del movimiento.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114800"/>
          </a:xfrm>
          <a:prstGeom prst="roundRect">
            <a:avLst/>
          </a:prstGeom>
          <a:solidFill>
            <a:srgbClr val="A60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228600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OBJETIVO GENERAL</a:t>
            </a:r>
            <a:br/>
            <a:br/>
            <a:r>
              <a:t>Construir una red organizada, confiable y con comunicación directa entre el Senador y la ciudadanía.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12191695" cy="91440"/>
          </a:xfrm>
          <a:prstGeom prst="rect">
            <a:avLst/>
          </a:prstGeom>
          <a:solidFill>
            <a:srgbClr val="A60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A60321"/>
                </a:solidFill>
                <a:latin typeface="Georgia"/>
              </a:defRPr>
            </a:pPr>
            <a:r>
              <a:t>Paso 1: Acceso con tu Enlace Único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6583680" cy="1928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600">
                <a:solidFill>
                  <a:srgbClr val="282828"/>
                </a:solidFill>
                <a:latin typeface="Arial"/>
              </a:defRPr>
            </a:pPr>
            <a:r>
              <a:rPr dirty="0"/>
              <a:t>• Tu </a:t>
            </a:r>
            <a:r>
              <a:rPr dirty="0" err="1"/>
              <a:t>coordinador</a:t>
            </a:r>
            <a:r>
              <a:rPr dirty="0"/>
              <a:t> </a:t>
            </a:r>
            <a:r>
              <a:rPr dirty="0" err="1"/>
              <a:t>te</a:t>
            </a:r>
            <a:r>
              <a:rPr dirty="0"/>
              <a:t> </a:t>
            </a:r>
            <a:r>
              <a:rPr dirty="0" err="1"/>
              <a:t>proporcionará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b="1" dirty="0" err="1"/>
              <a:t>liga</a:t>
            </a:r>
            <a:r>
              <a:rPr b="1" dirty="0"/>
              <a:t> </a:t>
            </a:r>
            <a:r>
              <a:rPr b="1" dirty="0" err="1"/>
              <a:t>única</a:t>
            </a:r>
            <a:r>
              <a:rPr b="1" dirty="0"/>
              <a:t> </a:t>
            </a:r>
            <a:r>
              <a:rPr lang="en-US" b="1" dirty="0"/>
              <a:t>y un QR </a:t>
            </a:r>
            <a:r>
              <a:rPr lang="es-MX" b="1" dirty="0"/>
              <a:t>único </a:t>
            </a:r>
            <a:r>
              <a:rPr dirty="0"/>
              <a:t>de </a:t>
            </a:r>
            <a:r>
              <a:rPr dirty="0" err="1"/>
              <a:t>registro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contiene</a:t>
            </a:r>
            <a:r>
              <a:rPr dirty="0"/>
              <a:t> </a:t>
            </a:r>
            <a:r>
              <a:rPr dirty="0" err="1"/>
              <a:t>tu</a:t>
            </a:r>
            <a:r>
              <a:rPr dirty="0"/>
              <a:t> ID de </a:t>
            </a:r>
            <a:r>
              <a:rPr dirty="0" err="1"/>
              <a:t>brigadista</a:t>
            </a:r>
            <a:r>
              <a:rPr dirty="0"/>
              <a:t>.</a:t>
            </a:r>
          </a:p>
          <a:p>
            <a:pPr>
              <a:spcBef>
                <a:spcPts val="1400"/>
              </a:spcBef>
              <a:defRPr sz="1600">
                <a:solidFill>
                  <a:srgbClr val="282828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Muestra</a:t>
            </a:r>
            <a:r>
              <a:rPr dirty="0"/>
              <a:t> el </a:t>
            </a:r>
            <a:r>
              <a:rPr dirty="0" err="1"/>
              <a:t>código</a:t>
            </a:r>
            <a:r>
              <a:rPr dirty="0"/>
              <a:t> QR </a:t>
            </a:r>
            <a:r>
              <a:rPr dirty="0" err="1"/>
              <a:t>asociado</a:t>
            </a:r>
            <a:r>
              <a:rPr dirty="0"/>
              <a:t> a </a:t>
            </a:r>
            <a:r>
              <a:rPr dirty="0" err="1"/>
              <a:t>esta</a:t>
            </a:r>
            <a:r>
              <a:rPr dirty="0"/>
              <a:t> </a:t>
            </a:r>
            <a:r>
              <a:rPr dirty="0" err="1"/>
              <a:t>liga</a:t>
            </a:r>
            <a:r>
              <a:rPr dirty="0"/>
              <a:t> para </a:t>
            </a:r>
            <a:r>
              <a:rPr dirty="0" err="1"/>
              <a:t>que</a:t>
            </a:r>
            <a:r>
              <a:rPr dirty="0"/>
              <a:t> el </a:t>
            </a:r>
            <a:r>
              <a:rPr dirty="0" err="1"/>
              <a:t>ciudadano</a:t>
            </a:r>
            <a:r>
              <a:rPr dirty="0"/>
              <a:t> lo </a:t>
            </a:r>
            <a:r>
              <a:rPr dirty="0" err="1"/>
              <a:t>escanee</a:t>
            </a:r>
            <a:r>
              <a:rPr dirty="0"/>
              <a:t> con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propio</a:t>
            </a:r>
            <a:r>
              <a:rPr dirty="0"/>
              <a:t> </a:t>
            </a:r>
            <a:r>
              <a:rPr dirty="0" err="1"/>
              <a:t>celular</a:t>
            </a:r>
            <a:r>
              <a:rPr dirty="0"/>
              <a:t>.</a:t>
            </a:r>
          </a:p>
          <a:p>
            <a:pPr>
              <a:spcBef>
                <a:spcPts val="1400"/>
              </a:spcBef>
              <a:defRPr sz="1600">
                <a:solidFill>
                  <a:srgbClr val="282828"/>
                </a:solidFill>
                <a:latin typeface="Arial"/>
              </a:defRPr>
            </a:pPr>
            <a:r>
              <a:rPr dirty="0"/>
              <a:t>• Si no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escanearlo</a:t>
            </a:r>
            <a:r>
              <a:rPr dirty="0"/>
              <a:t>, </a:t>
            </a:r>
            <a:r>
              <a:rPr dirty="0" err="1"/>
              <a:t>compártele</a:t>
            </a:r>
            <a:r>
              <a:rPr dirty="0"/>
              <a:t> el enlace </a:t>
            </a:r>
            <a:r>
              <a:rPr dirty="0" err="1"/>
              <a:t>por</a:t>
            </a:r>
            <a:r>
              <a:rPr dirty="0"/>
              <a:t> WhatsApp para </a:t>
            </a:r>
            <a:r>
              <a:rPr dirty="0" err="1"/>
              <a:t>que</a:t>
            </a:r>
            <a:r>
              <a:rPr dirty="0"/>
              <a:t> lo abra en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dispositivo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603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0" y="20116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60321"/>
                </a:solidFill>
                <a:latin typeface="Arial"/>
              </a:defRPr>
            </a:pPr>
            <a:r>
              <a:t>⚠️ ADVERTENCIA</a:t>
            </a:r>
          </a:p>
          <a:p>
            <a:br/>
            <a:r>
              <a:t>NUNCA registres al votante usando tu celular.</a:t>
            </a:r>
            <a:br/>
            <a:br/>
            <a:r>
              <a:t>La sesión de WhatsApp de quien envía el mensaje final es la que queda asociada al registro. Si usas tu cel, los datos del votante se ligarán a tu número.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12191695" cy="91440"/>
          </a:xfrm>
          <a:prstGeom prst="rect">
            <a:avLst/>
          </a:prstGeom>
          <a:solidFill>
            <a:srgbClr val="A60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A60321"/>
                </a:solidFill>
                <a:latin typeface="Georgia"/>
              </a:defRPr>
            </a:pPr>
            <a:r>
              <a:t>Paso 2: Formulario Web del Ciudadano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6583680" cy="3498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600">
                <a:solidFill>
                  <a:srgbClr val="282828"/>
                </a:solidFill>
                <a:latin typeface="Arial"/>
              </a:defRPr>
            </a:pPr>
            <a:r>
              <a:rPr dirty="0"/>
              <a:t>• El </a:t>
            </a:r>
            <a:r>
              <a:rPr dirty="0" err="1"/>
              <a:t>votante</a:t>
            </a:r>
            <a:r>
              <a:rPr dirty="0"/>
              <a:t> </a:t>
            </a:r>
            <a:r>
              <a:rPr dirty="0" err="1"/>
              <a:t>entra</a:t>
            </a:r>
            <a:r>
              <a:rPr dirty="0"/>
              <a:t> a la </a:t>
            </a:r>
            <a:r>
              <a:rPr dirty="0" err="1"/>
              <a:t>liga</a:t>
            </a:r>
            <a:r>
              <a:rPr dirty="0"/>
              <a:t> y </a:t>
            </a:r>
            <a:r>
              <a:rPr dirty="0" err="1"/>
              <a:t>verá</a:t>
            </a:r>
            <a:r>
              <a:rPr dirty="0"/>
              <a:t> un banner </a:t>
            </a:r>
            <a:r>
              <a:rPr dirty="0" err="1"/>
              <a:t>arriba</a:t>
            </a:r>
            <a:r>
              <a:rPr dirty="0"/>
              <a:t> </a:t>
            </a:r>
            <a:r>
              <a:rPr dirty="0" err="1"/>
              <a:t>confirmando</a:t>
            </a:r>
            <a:r>
              <a:rPr dirty="0"/>
              <a:t> </a:t>
            </a:r>
            <a:r>
              <a:rPr dirty="0" err="1"/>
              <a:t>quién</a:t>
            </a:r>
            <a:r>
              <a:rPr dirty="0"/>
              <a:t> lo </a:t>
            </a:r>
            <a:r>
              <a:rPr dirty="0" err="1"/>
              <a:t>invita</a:t>
            </a:r>
            <a:r>
              <a:rPr dirty="0"/>
              <a:t>: '</a:t>
            </a:r>
            <a:r>
              <a:rPr dirty="0" err="1"/>
              <a:t>Te</a:t>
            </a:r>
            <a:r>
              <a:rPr dirty="0"/>
              <a:t> </a:t>
            </a:r>
            <a:r>
              <a:rPr dirty="0" err="1"/>
              <a:t>invita</a:t>
            </a:r>
            <a:r>
              <a:rPr dirty="0"/>
              <a:t> el Enlace: [Tu Nombre]'.</a:t>
            </a:r>
          </a:p>
          <a:p>
            <a:pPr>
              <a:spcBef>
                <a:spcPts val="1400"/>
              </a:spcBef>
              <a:defRPr sz="1600">
                <a:solidFill>
                  <a:srgbClr val="282828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Ayúdale</a:t>
            </a:r>
            <a:r>
              <a:rPr dirty="0"/>
              <a:t> a </a:t>
            </a:r>
            <a:r>
              <a:rPr dirty="0" err="1"/>
              <a:t>capturar</a:t>
            </a:r>
            <a:r>
              <a:rPr dirty="0"/>
              <a:t> sus </a:t>
            </a:r>
            <a:r>
              <a:rPr dirty="0" err="1"/>
              <a:t>datos</a:t>
            </a:r>
            <a:r>
              <a:rPr dirty="0"/>
              <a:t> </a:t>
            </a:r>
            <a:r>
              <a:rPr dirty="0" err="1"/>
              <a:t>obligatorios</a:t>
            </a:r>
            <a:r>
              <a:rPr dirty="0"/>
              <a:t>: Nombre </a:t>
            </a:r>
            <a:r>
              <a:rPr dirty="0" err="1"/>
              <a:t>completo</a:t>
            </a:r>
            <a:r>
              <a:rPr dirty="0"/>
              <a:t> (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aparece</a:t>
            </a:r>
            <a:r>
              <a:rPr dirty="0"/>
              <a:t> en </a:t>
            </a:r>
            <a:r>
              <a:rPr dirty="0" err="1"/>
              <a:t>su</a:t>
            </a:r>
            <a:r>
              <a:rPr dirty="0"/>
              <a:t> INE), WhatsApp de 10 </a:t>
            </a:r>
            <a:r>
              <a:rPr dirty="0" err="1"/>
              <a:t>dígitos</a:t>
            </a:r>
            <a:r>
              <a:rPr dirty="0"/>
              <a:t>, Calle y </a:t>
            </a:r>
            <a:r>
              <a:rPr dirty="0" err="1"/>
              <a:t>Sección</a:t>
            </a:r>
            <a:r>
              <a:rPr dirty="0"/>
              <a:t> Electoral.</a:t>
            </a:r>
          </a:p>
          <a:p>
            <a:pPr>
              <a:spcBef>
                <a:spcPts val="1400"/>
              </a:spcBef>
              <a:defRPr sz="1600">
                <a:solidFill>
                  <a:srgbClr val="282828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Sección</a:t>
            </a:r>
            <a:r>
              <a:rPr dirty="0"/>
              <a:t> Electoral: Es el </a:t>
            </a:r>
            <a:r>
              <a:rPr dirty="0" err="1"/>
              <a:t>número</a:t>
            </a:r>
            <a:r>
              <a:rPr dirty="0"/>
              <a:t> de 3 o 4 </a:t>
            </a:r>
            <a:r>
              <a:rPr dirty="0" err="1"/>
              <a:t>dígitos</a:t>
            </a:r>
            <a:r>
              <a:rPr dirty="0"/>
              <a:t> </a:t>
            </a:r>
            <a:r>
              <a:rPr lang="es-MX" dirty="0"/>
              <a:t>(omite los “0” a la izquierda) </a:t>
            </a:r>
            <a:r>
              <a:rPr dirty="0" err="1"/>
              <a:t>ubicado</a:t>
            </a:r>
            <a:r>
              <a:rPr dirty="0"/>
              <a:t> al </a:t>
            </a:r>
            <a:r>
              <a:rPr dirty="0" err="1"/>
              <a:t>frente</a:t>
            </a:r>
            <a:r>
              <a:rPr dirty="0"/>
              <a:t> de la </a:t>
            </a:r>
            <a:r>
              <a:rPr dirty="0" err="1"/>
              <a:t>credencial</a:t>
            </a:r>
            <a:r>
              <a:rPr dirty="0"/>
              <a:t> INE</a:t>
            </a:r>
            <a:r>
              <a:rPr lang="en-US" dirty="0"/>
              <a:t>.</a:t>
            </a:r>
            <a:endParaRPr dirty="0"/>
          </a:p>
          <a:p>
            <a:r>
              <a:rPr dirty="0"/>
              <a:t>• El </a:t>
            </a:r>
            <a:r>
              <a:rPr dirty="0" err="1"/>
              <a:t>votante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elegir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desea</a:t>
            </a:r>
            <a:r>
              <a:rPr dirty="0"/>
              <a:t> </a:t>
            </a:r>
            <a:r>
              <a:rPr dirty="0" err="1"/>
              <a:t>sumarse</a:t>
            </a:r>
            <a:r>
              <a:rPr dirty="0"/>
              <a:t> al movimiento </a:t>
            </a:r>
            <a:r>
              <a:rPr dirty="0" err="1"/>
              <a:t>como</a:t>
            </a:r>
            <a:r>
              <a:rPr dirty="0"/>
              <a:t> </a:t>
            </a:r>
            <a:r>
              <a:rPr lang="en-US" dirty="0" err="1"/>
              <a:t>Protagonista</a:t>
            </a:r>
            <a:r>
              <a:rPr lang="en-US" dirty="0"/>
              <a:t> del </a:t>
            </a:r>
            <a:r>
              <a:rPr lang="en-US" dirty="0" err="1"/>
              <a:t>cambio</a:t>
            </a:r>
            <a:r>
              <a:rPr lang="en-US" dirty="0"/>
              <a:t> </a:t>
            </a:r>
            <a:r>
              <a:rPr lang="en-US" dirty="0" err="1"/>
              <a:t>verdadero</a:t>
            </a:r>
            <a:br>
              <a:rPr lang="en-US" dirty="0"/>
            </a:br>
            <a:r>
              <a:rPr lang="es-MX" sz="1600" dirty="0"/>
              <a:t>Promoción del voto</a:t>
            </a:r>
            <a:br>
              <a:rPr lang="es-MX" sz="1600" dirty="0"/>
            </a:br>
            <a:r>
              <a:rPr lang="es-MX" sz="1600" dirty="0"/>
              <a:t>Defensa del voto</a:t>
            </a:r>
            <a:br>
              <a:rPr lang="es-MX" sz="1600" dirty="0"/>
            </a:br>
            <a:r>
              <a:rPr lang="es-MX" dirty="0"/>
              <a:t>Activismo digital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1148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228600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VÍNCULO DE CONFIANZA</a:t>
            </a:r>
            <a:br/>
            <a:br/>
            <a:r>
              <a:t>Verificar visualmente tu nombre en la parte superior del formulario le asegura al votante que está registrándose en el canal correcto contigo.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12191695" cy="91440"/>
          </a:xfrm>
          <a:prstGeom prst="rect">
            <a:avLst/>
          </a:prstGeom>
          <a:solidFill>
            <a:srgbClr val="A60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A60321"/>
                </a:solidFill>
                <a:latin typeface="Georgia"/>
              </a:defRPr>
            </a:pPr>
            <a:r>
              <a:t>Diagrama del Flujo de Trabajo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2011680" cy="1828800"/>
          </a:xfrm>
          <a:prstGeom prst="roundRect">
            <a:avLst/>
          </a:prstGeom>
          <a:solidFill>
            <a:srgbClr val="A60321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1. Escaneo QR</a:t>
            </a:r>
            <a:br/>
            <a:br/>
            <a:r>
              <a:t>Ciudadano escanea la liga única de red del brigadista.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286000"/>
            <a:ext cx="2011680" cy="1828800"/>
          </a:xfrm>
          <a:prstGeom prst="roundRect">
            <a:avLst/>
          </a:prstGeom>
          <a:solidFill>
            <a:srgbClr val="A60321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2. Web Form</a:t>
            </a:r>
            <a:br/>
            <a:br/>
            <a:r>
              <a:t>Se abre la web, se confirma el líder y se capturan datos 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286000"/>
            <a:ext cx="2011680" cy="1828800"/>
          </a:xfrm>
          <a:prstGeom prst="roundRect">
            <a:avLst/>
          </a:prstGeom>
          <a:solidFill>
            <a:srgbClr val="A60321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3. WhatsApp</a:t>
            </a:r>
            <a:br/>
            <a:br/>
            <a:r>
              <a:t>El votante envía mensaje pre-llenado al Chatbot oficial.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2286000"/>
            <a:ext cx="2468880" cy="1828800"/>
          </a:xfrm>
          <a:prstGeom prst="roundRect">
            <a:avLst/>
          </a:prstGeom>
          <a:solidFill>
            <a:srgbClr val="A60321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4. CRM Petición</a:t>
            </a:r>
            <a:br/>
            <a:br/>
            <a:r>
              <a:t>Si tiene solicitud, el bot genera Folio GS-XXXX y envía al CRM.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834640" y="3017520"/>
            <a:ext cx="548640" cy="365760"/>
          </a:xfrm>
          <a:prstGeom prst="right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Arrow 11"/>
          <p:cNvSpPr/>
          <p:nvPr/>
        </p:nvSpPr>
        <p:spPr>
          <a:xfrm>
            <a:off x="5577840" y="3017520"/>
            <a:ext cx="548640" cy="365760"/>
          </a:xfrm>
          <a:prstGeom prst="right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ight Arrow 12"/>
          <p:cNvSpPr/>
          <p:nvPr/>
        </p:nvSpPr>
        <p:spPr>
          <a:xfrm>
            <a:off x="8321040" y="3017520"/>
            <a:ext cx="548640" cy="365760"/>
          </a:xfrm>
          <a:prstGeom prst="right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10698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282828"/>
                </a:solidFill>
                <a:latin typeface="Arial"/>
              </a:defRPr>
            </a:pPr>
            <a:r>
              <a:rPr dirty="0"/>
              <a:t>Nota: El </a:t>
            </a:r>
            <a:r>
              <a:rPr dirty="0" err="1"/>
              <a:t>flujo</a:t>
            </a:r>
            <a:r>
              <a:rPr dirty="0"/>
              <a:t> vincula el </a:t>
            </a:r>
            <a:r>
              <a:rPr dirty="0" err="1"/>
              <a:t>registro</a:t>
            </a:r>
            <a:r>
              <a:rPr dirty="0"/>
              <a:t> </a:t>
            </a:r>
            <a:r>
              <a:rPr dirty="0" err="1"/>
              <a:t>directamente</a:t>
            </a:r>
            <a:r>
              <a:rPr dirty="0"/>
              <a:t> con el Chatbot en WhatsApp para </a:t>
            </a:r>
            <a:r>
              <a:rPr dirty="0" err="1"/>
              <a:t>validar</a:t>
            </a:r>
            <a:r>
              <a:rPr dirty="0"/>
              <a:t> la </a:t>
            </a:r>
            <a:r>
              <a:rPr dirty="0" err="1"/>
              <a:t>línea</a:t>
            </a:r>
            <a:r>
              <a:rPr dirty="0"/>
              <a:t> </a:t>
            </a:r>
            <a:r>
              <a:rPr dirty="0" err="1"/>
              <a:t>celular</a:t>
            </a:r>
            <a:r>
              <a:rPr dirty="0"/>
              <a:t> del </a:t>
            </a:r>
            <a:r>
              <a:rPr dirty="0" err="1"/>
              <a:t>votante</a:t>
            </a:r>
            <a:r>
              <a:rPr dirty="0"/>
              <a:t> y, </a:t>
            </a:r>
            <a:r>
              <a:rPr dirty="0" err="1"/>
              <a:t>si</a:t>
            </a:r>
            <a:r>
              <a:rPr dirty="0"/>
              <a:t> lo requiere, </a:t>
            </a:r>
            <a:r>
              <a:rPr dirty="0" err="1"/>
              <a:t>transferirlo</a:t>
            </a:r>
            <a:r>
              <a:rPr dirty="0"/>
              <a:t> </a:t>
            </a:r>
            <a:r>
              <a:rPr dirty="0" err="1"/>
              <a:t>automáticamente</a:t>
            </a:r>
            <a:r>
              <a:rPr dirty="0"/>
              <a:t> al CRM de </a:t>
            </a:r>
            <a:r>
              <a:rPr dirty="0" err="1"/>
              <a:t>Vinculación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12191695" cy="91440"/>
          </a:xfrm>
          <a:prstGeom prst="rect">
            <a:avLst/>
          </a:prstGeom>
          <a:solidFill>
            <a:srgbClr val="A60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A60321"/>
                </a:solidFill>
                <a:latin typeface="Georgia"/>
              </a:defRPr>
            </a:pPr>
            <a:r>
              <a:t>Pasos 3, 4 y 5: Validación y Gestión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6583680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282828"/>
                </a:solidFill>
                <a:latin typeface="Arial"/>
              </a:defRPr>
            </a:pPr>
            <a:r>
              <a:rPr dirty="0"/>
              <a:t>• El </a:t>
            </a:r>
            <a:r>
              <a:rPr dirty="0" err="1"/>
              <a:t>votante</a:t>
            </a:r>
            <a:r>
              <a:rPr dirty="0"/>
              <a:t> </a:t>
            </a:r>
            <a:r>
              <a:rPr dirty="0" err="1"/>
              <a:t>presiona</a:t>
            </a:r>
            <a:r>
              <a:rPr dirty="0"/>
              <a:t> 'Registrar' y se </a:t>
            </a:r>
            <a:r>
              <a:rPr dirty="0" err="1"/>
              <a:t>abre</a:t>
            </a:r>
            <a:r>
              <a:rPr dirty="0"/>
              <a:t> WhatsApp con un </a:t>
            </a:r>
            <a:r>
              <a:rPr dirty="0" err="1"/>
              <a:t>texto</a:t>
            </a:r>
            <a:r>
              <a:rPr dirty="0"/>
              <a:t> </a:t>
            </a:r>
            <a:r>
              <a:rPr dirty="0" err="1"/>
              <a:t>listo</a:t>
            </a:r>
            <a:r>
              <a:rPr dirty="0"/>
              <a:t> para </a:t>
            </a:r>
            <a:r>
              <a:rPr dirty="0" err="1"/>
              <a:t>enviar</a:t>
            </a:r>
            <a:r>
              <a:rPr dirty="0"/>
              <a:t>.</a:t>
            </a:r>
          </a:p>
          <a:p>
            <a:pPr>
              <a:spcBef>
                <a:spcPts val="1200"/>
              </a:spcBef>
              <a:defRPr sz="1600">
                <a:solidFill>
                  <a:srgbClr val="282828"/>
                </a:solidFill>
                <a:latin typeface="Arial"/>
              </a:defRPr>
            </a:pPr>
            <a:r>
              <a:rPr dirty="0"/>
              <a:t>• Al </a:t>
            </a:r>
            <a:r>
              <a:rPr dirty="0" err="1"/>
              <a:t>enviar</a:t>
            </a:r>
            <a:r>
              <a:rPr dirty="0"/>
              <a:t> </a:t>
            </a:r>
            <a:r>
              <a:rPr dirty="0" err="1"/>
              <a:t>este</a:t>
            </a:r>
            <a:r>
              <a:rPr dirty="0"/>
              <a:t> </a:t>
            </a:r>
            <a:r>
              <a:rPr dirty="0" err="1"/>
              <a:t>mensaje</a:t>
            </a:r>
            <a:r>
              <a:rPr dirty="0"/>
              <a:t>, el Chatbot del </a:t>
            </a:r>
            <a:r>
              <a:rPr dirty="0" err="1"/>
              <a:t>Senador</a:t>
            </a:r>
            <a:r>
              <a:rPr dirty="0"/>
              <a:t> le da la </a:t>
            </a:r>
            <a:r>
              <a:rPr lang="es-MX" dirty="0"/>
              <a:t>B</a:t>
            </a:r>
            <a:r>
              <a:rPr dirty="0" err="1"/>
              <a:t>ienvenida</a:t>
            </a:r>
            <a:r>
              <a:rPr lang="en-US" dirty="0"/>
              <a:t>,</a:t>
            </a:r>
            <a:r>
              <a:rPr dirty="0"/>
              <a:t> valida sus </a:t>
            </a:r>
            <a:r>
              <a:rPr dirty="0" err="1"/>
              <a:t>datos</a:t>
            </a:r>
            <a:r>
              <a:rPr lang="en-US" dirty="0"/>
              <a:t> y </a:t>
            </a:r>
            <a:r>
              <a:rPr lang="en-US" dirty="0" err="1"/>
              <a:t>pide</a:t>
            </a:r>
            <a:r>
              <a:rPr lang="en-US" dirty="0"/>
              <a:t> la </a:t>
            </a:r>
            <a:r>
              <a:rPr lang="en-US" dirty="0" err="1"/>
              <a:t>Autorización</a:t>
            </a:r>
            <a:r>
              <a:rPr lang="en-US" dirty="0"/>
              <a:t> de </a:t>
            </a:r>
            <a:r>
              <a:rPr lang="en-US" dirty="0" err="1"/>
              <a:t>Difusión</a:t>
            </a:r>
            <a:r>
              <a:rPr lang="en-US" dirty="0"/>
              <a:t> la </a:t>
            </a:r>
            <a:r>
              <a:rPr lang="en-US" dirty="0" err="1"/>
              <a:t>cual</a:t>
            </a:r>
            <a:r>
              <a:rPr lang="en-US" dirty="0"/>
              <a:t> el </a:t>
            </a:r>
            <a:r>
              <a:rPr lang="en-US" dirty="0" err="1"/>
              <a:t>votante</a:t>
            </a:r>
            <a:r>
              <a:rPr lang="en-US" dirty="0"/>
              <a:t> </a:t>
            </a:r>
            <a:r>
              <a:rPr lang="en-US" dirty="0" err="1"/>
              <a:t>debe</a:t>
            </a:r>
            <a:r>
              <a:rPr lang="en-US" dirty="0"/>
              <a:t> </a:t>
            </a:r>
            <a:r>
              <a:rPr lang="en-US" dirty="0" err="1"/>
              <a:t>aceptar</a:t>
            </a:r>
            <a:r>
              <a:rPr lang="en-US" dirty="0"/>
              <a:t>.</a:t>
            </a:r>
            <a:endParaRPr dirty="0"/>
          </a:p>
          <a:p>
            <a:pPr>
              <a:spcBef>
                <a:spcPts val="1200"/>
              </a:spcBef>
              <a:defRPr sz="1600">
                <a:solidFill>
                  <a:srgbClr val="282828"/>
                </a:solidFill>
                <a:latin typeface="Arial"/>
              </a:defRPr>
            </a:pPr>
            <a:r>
              <a:rPr dirty="0"/>
              <a:t>• </a:t>
            </a:r>
            <a:r>
              <a:rPr lang="es-MX" sz="1600" dirty="0"/>
              <a:t>El </a:t>
            </a:r>
            <a:r>
              <a:rPr lang="es-MX" sz="1600" dirty="0" err="1"/>
              <a:t>Chatbot</a:t>
            </a:r>
            <a:r>
              <a:rPr lang="es-MX" sz="1600" dirty="0"/>
              <a:t> le dará las gracias ahí termina la conversación.</a:t>
            </a:r>
          </a:p>
          <a:p>
            <a:r>
              <a:rPr lang="es-MX" sz="1600" b="1" dirty="0"/>
              <a:t>NOTA:</a:t>
            </a:r>
            <a:br>
              <a:rPr lang="es-MX" sz="1600" b="1" dirty="0"/>
            </a:br>
            <a:r>
              <a:rPr lang="es-MX" dirty="0"/>
              <a:t>Si el votante tiene una petición aquí es donde debe de escribir “petición”.</a:t>
            </a:r>
            <a:br>
              <a:rPr lang="es-MX" dirty="0"/>
            </a:br>
            <a:r>
              <a:rPr lang="es-MX" dirty="0"/>
              <a:t>El </a:t>
            </a:r>
            <a:r>
              <a:rPr lang="es-MX" dirty="0" err="1"/>
              <a:t>Chatbot</a:t>
            </a:r>
            <a:r>
              <a:rPr lang="es-MX" dirty="0"/>
              <a:t> le responderá “escríbeme detalladamente cuál es tu consulta, petición o el apoyo que necesitas”</a:t>
            </a:r>
            <a:br>
              <a:rPr lang="es-MX" dirty="0"/>
            </a:br>
            <a:r>
              <a:rPr lang="es-MX" dirty="0"/>
              <a:t>El votante detalla su consulta y el </a:t>
            </a:r>
            <a:r>
              <a:rPr lang="es-MX" dirty="0" err="1"/>
              <a:t>Chatbot</a:t>
            </a:r>
            <a:r>
              <a:rPr lang="es-MX" dirty="0"/>
              <a:t> crea un numero de folio y el caso aparece al instante en el CRM administrativo de vinculación para su seguimiento.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114800"/>
          </a:xfrm>
          <a:prstGeom prst="roundRect">
            <a:avLst/>
          </a:prstGeom>
          <a:solidFill>
            <a:srgbClr val="A60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210312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SEGUIMIENTO DIGITAL</a:t>
            </a:r>
            <a:br/>
            <a:br/>
            <a:r>
              <a:t>El folio de gestión GS-XXXX le permite al votante dar seguimiento a su caso escribiendo por WhatsApp o llamando a Vinculación (662 423 6390).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60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93947" y="2011680"/>
            <a:ext cx="11373626" cy="11798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D4AF37"/>
                </a:solidFill>
                <a:latin typeface="Georgia"/>
              </a:defRPr>
            </a:pPr>
            <a:r>
              <a:rPr sz="3600" dirty="0"/>
              <a:t>¡</a:t>
            </a:r>
            <a:r>
              <a:rPr sz="3600" dirty="0" err="1"/>
              <a:t>Muchas</a:t>
            </a:r>
            <a:r>
              <a:rPr sz="3600" dirty="0"/>
              <a:t> Gracias </a:t>
            </a:r>
            <a:r>
              <a:rPr sz="3600" dirty="0" err="1"/>
              <a:t>por</a:t>
            </a:r>
            <a:r>
              <a:rPr sz="3600" dirty="0"/>
              <a:t> </a:t>
            </a:r>
            <a:r>
              <a:rPr sz="3600" dirty="0" err="1"/>
              <a:t>su</a:t>
            </a:r>
            <a:r>
              <a:rPr sz="3600" dirty="0"/>
              <a:t> </a:t>
            </a:r>
            <a:r>
              <a:rPr sz="3600" dirty="0" err="1"/>
              <a:t>Esfuerzo</a:t>
            </a:r>
            <a:r>
              <a:rPr sz="3600" dirty="0"/>
              <a:t> en </a:t>
            </a:r>
            <a:r>
              <a:rPr sz="3600" dirty="0" err="1"/>
              <a:t>Territorio</a:t>
            </a:r>
            <a:r>
              <a:rPr sz="3600" dirty="0"/>
              <a:t>!</a:t>
            </a:r>
          </a:p>
          <a:p>
            <a:pPr algn="ctr">
              <a:spcBef>
                <a:spcPts val="2000"/>
              </a:spcBef>
              <a:defRPr sz="1800">
                <a:solidFill>
                  <a:srgbClr val="FFFFFF"/>
                </a:solidFill>
                <a:latin typeface="Arial"/>
              </a:defRPr>
            </a:pPr>
            <a:r>
              <a:rPr dirty="0"/>
              <a:t>Campa</a:t>
            </a:r>
            <a:r>
              <a:rPr lang="es-MX" dirty="0"/>
              <a:t>ñ</a:t>
            </a:r>
            <a:r>
              <a:rPr dirty="0"/>
              <a:t>a de Enlaces </a:t>
            </a:r>
            <a:r>
              <a:rPr dirty="0" err="1"/>
              <a:t>Ciudadanos</a:t>
            </a:r>
            <a:r>
              <a:rPr dirty="0"/>
              <a:t> de Heriberto Aguilar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655</Words>
  <Application>Microsoft Office PowerPoint</Application>
  <PresentationFormat>Widescreen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Enrique Valenzuela</cp:lastModifiedBy>
  <cp:revision>3</cp:revision>
  <dcterms:created xsi:type="dcterms:W3CDTF">2013-01-27T09:14:16Z</dcterms:created>
  <dcterms:modified xsi:type="dcterms:W3CDTF">2026-06-09T01:38:00Z</dcterms:modified>
  <cp:category/>
</cp:coreProperties>
</file>